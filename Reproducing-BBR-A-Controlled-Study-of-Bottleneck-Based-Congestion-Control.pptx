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oppins Light"/>
      <p:regular r:id="rId16"/>
    </p:embeddedFon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Roboto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5934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Reproducing BBR: A Controlled Study of Bottleneck-Based Congestion Control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91382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CS 552 — Computer Networks · Spring 2026 · Rutgers University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445460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Mihir Kulkarni · Chaitanya Ranaware · Piyoosha Gadi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· Prof. Minsung Kim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4995386"/>
            <a:ext cx="7556421" cy="1478280"/>
          </a:xfrm>
          <a:prstGeom prst="roundRect">
            <a:avLst>
              <a:gd name="adj" fmla="val 5639"/>
            </a:avLst>
          </a:prstGeom>
          <a:solidFill>
            <a:srgbClr val="25252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48" y="5290661"/>
            <a:ext cx="248007" cy="1983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4913" y="5243274"/>
            <a:ext cx="67133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empirically reproduced Google's BBR algorithm against CUBIC and RENO on a controlled Linux testbed. Three experiments, one finding: BBR trades a small throughput gap for much lower latency.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6216"/>
            <a:ext cx="110147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Problem: Loss-Based Congestion Control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231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 over 30 years, TCP congestion control has relied on a single signal: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packet loss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Algorithms like RENO and CUBIC accelerate until packets drop, then back off. This worked when router buffers were small — but modern hardware ships with megabytes of buffering, and the old model breaks down.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81450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3981450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Buffer Bloat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631888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loss-based sender fills the router buffer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before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receiving a loss signal. Throughput looks fine, but queuing delay balloons — latency spikes even while the link is fully utilized.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981450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1519" y="3981450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7704177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Core Question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704177" y="4631888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Can we perform congestion control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without using loss as the signal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? BBR's answer: model the physical properties of the path itself — bandwidth and propagation delay — and operate at the optimal point.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7103"/>
            <a:ext cx="63351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BBR's Idea: Model the Path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5401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estimates two physical quantities and uses their product — the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Bandwidth-Delay Product (BDP)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as the target for in-flight data. This keeps the link full without queuing packets.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512338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256478"/>
            <a:ext cx="364652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BtlBw — Bottleneck Bandwidth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3685699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maximum delivery rate observed on the path. BBR paces its sending rate at this value to fully utilize the link.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2512338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144" y="3256478"/>
            <a:ext cx="34812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RTprop — Propagation Delay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39144" y="3685699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minimum RTT observed, representing the path's physical propagation delay with no queuing. BBR uses this as its latency floor.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17613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461754"/>
            <a:ext cx="25507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BDP = BtlBw × RTprop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93790" y="5890974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optimal in-flight data volume. BBR keeps congestion window near BDP — full link, empty queue.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4717613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144" y="54617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Four-Phase Cycle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39144" y="5890974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STARTUP, DRAIN, PROBE_BW, and PROBE_RTT cycle continuously to keep estimates fresh and adapt to path changes.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793790" y="6749296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02234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7044571"/>
            <a:ext cx="248007" cy="19835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38513" y="6997184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Linux kernel since 4.9 (2016). Deployed across Google's WAN, YouTube, and QUIC.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2431"/>
            <a:ext cx="658677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We Built: The Testbed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6934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reproducible, low-overhead environment using Linux network namespaces and traffic control — no VMs, no virtualization noise.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2910126"/>
            <a:ext cx="6565106" cy="3966924"/>
          </a:xfrm>
          <a:prstGeom prst="roundRect">
            <a:avLst>
              <a:gd name="adj" fmla="val 3602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1084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Topology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3617000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Two network namespaces on one CachyOS host (kernel 6.19), connected by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veth pair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9273" y="4430673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ns1 (server)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10.0.0.1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ns2 (client)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10.0.0.2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tc tbf + netem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on the veth pair emulates the bottleneck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9273" y="5700712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TSO/GSO/GRO disabled so packet-count queue limits reflect real packets.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1084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Traffic Control Stack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564874" y="3641884"/>
            <a:ext cx="3040499" cy="2190631"/>
          </a:xfrm>
          <a:prstGeom prst="roundRect">
            <a:avLst>
              <a:gd name="adj" fmla="val 38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0852" y="38478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tbf (root qdisc)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770852" y="4356378"/>
            <a:ext cx="26285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Enforces the rate limit on the bottleneck link.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803731" y="3641884"/>
            <a:ext cx="3040499" cy="2190631"/>
          </a:xfrm>
          <a:prstGeom prst="roundRect">
            <a:avLst>
              <a:gd name="adj" fmla="val 38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09709" y="38478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netem (child qdisc)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009709" y="4356378"/>
            <a:ext cx="262854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Adds one-way delay and a packet-count queue limit. Applied symmetrically so RTT = 2 × one-way delay.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6055757"/>
            <a:ext cx="627935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Traffic generated with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iperf3 -C &lt;bbr|cubic|reno&gt;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JSON output at 100 ms intervals.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21030"/>
            <a:ext cx="1292542" cy="365284"/>
          </a:xfrm>
          <a:prstGeom prst="roundRect">
            <a:avLst>
              <a:gd name="adj" fmla="val 17971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898565" y="679609"/>
            <a:ext cx="1058228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EXPERIMENT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1407" y="1063228"/>
            <a:ext cx="8938379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Throughput Sweep: 81 Configurations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81407" y="1962031"/>
            <a:ext cx="1306758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swept 3 CCs × 3 bandwidths × 3 delays × 3 buffer sizes —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81 runs at 30 seconds each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measuring how close each algorithm gets to the bottleneck cap.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407" y="2870716"/>
            <a:ext cx="710660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Selected Results at 100 Mbps Bottleneck (% of link capacity)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1407" y="3464243"/>
            <a:ext cx="13067586" cy="2795945"/>
          </a:xfrm>
          <a:prstGeom prst="roundRect">
            <a:avLst>
              <a:gd name="adj" fmla="val 293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9027" y="3471863"/>
            <a:ext cx="13052346" cy="5561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4528" y="3594854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One-Way Delay / Buffer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365" y="3594854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14392" y="3594854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CUBIC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77418" y="3594854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9027" y="4028003"/>
            <a:ext cx="13052346" cy="5561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4528" y="4150995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 ms (10 ms RTT) — any buffer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51365" y="4150995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14392" y="4150995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77418" y="4150995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9027" y="4584144"/>
            <a:ext cx="13052346" cy="5561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84528" y="4707136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20 ms (40 ms RTT) — 100 pkt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51365" y="4707136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14392" y="4707136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22%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77418" y="4707136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11%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9027" y="5140285"/>
            <a:ext cx="13052346" cy="5561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4528" y="5263277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80 ms (160 ms RTT) — 100 pkt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51365" y="5263277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14392" y="5263277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22%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77418" y="5263277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11%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89027" y="5696426"/>
            <a:ext cx="13052346" cy="5561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84528" y="5819418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80 ms (160 ms RTT) — 1000 pkt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51365" y="5819418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14392" y="5819418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777418" y="5819418"/>
            <a:ext cx="2868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48%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1407" y="6476524"/>
            <a:ext cx="13067586" cy="1132046"/>
          </a:xfrm>
          <a:prstGeom prst="roundRect">
            <a:avLst>
              <a:gd name="adj" fmla="val 7249"/>
            </a:avLst>
          </a:prstGeom>
          <a:solidFill>
            <a:srgbClr val="183A13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670" y="6770727"/>
            <a:ext cx="244197" cy="19526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16129" y="6717625"/>
            <a:ext cx="1223760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Key Finding: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At shallow buffers and high RTT, CUBIC and RENO collapse to 11–22% utilization. BBR holds near 95% across nearly every condition. The advantage grows with delay — exactly as the paper predicted.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20460"/>
            <a:ext cx="1313259" cy="373142"/>
          </a:xfrm>
          <a:prstGeom prst="roundRect">
            <a:avLst>
              <a:gd name="adj" fmla="val 17872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879991"/>
            <a:ext cx="107513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EXPERIMENT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72897"/>
            <a:ext cx="112474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Buffer Bloat: Same Throughput, 3× the Latency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19063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single 60-second flow per CC at 100 Mbps, 40 ms base RTT, and a 1000-packet buffer (~3× BDP). All three algorithms reached similar throughput — but latency tells a different story.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048953"/>
            <a:ext cx="13042821" cy="2298859"/>
          </a:xfrm>
          <a:prstGeom prst="roundRect">
            <a:avLst>
              <a:gd name="adj" fmla="val 362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0565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0125" y="3183255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609380" y="318325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Throughput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14824" y="318325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Mean RTT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20269" y="318325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RTT Inflation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425714" y="3183255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Retransmits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362747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0125" y="3754160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09380" y="375416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93.4 Mbps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14824" y="375416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42.7 ms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820269" y="375416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1.07×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425714" y="3754160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419838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0125" y="4325064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CUBIC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609380" y="432506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95.7 Mbps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14824" y="432506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120.3 ms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20269" y="432506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2.95×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425714" y="4325064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92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476928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0125" y="4895969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609380" y="489596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95.6 Mbps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214824" y="489596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104.2 ms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820269" y="489596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2.56×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1425714" y="4895969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888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50915" y="5571053"/>
            <a:ext cx="6565106" cy="1838087"/>
          </a:xfrm>
          <a:prstGeom prst="roundRect">
            <a:avLst>
              <a:gd name="adj" fmla="val 7774"/>
            </a:avLst>
          </a:prstGeom>
          <a:solidFill>
            <a:srgbClr val="F2F2F3"/>
          </a:solidFill>
          <a:ln/>
        </p:spPr>
      </p:sp>
      <p:sp>
        <p:nvSpPr>
          <p:cNvPr id="32" name="Text 30"/>
          <p:cNvSpPr/>
          <p:nvPr/>
        </p:nvSpPr>
        <p:spPr>
          <a:xfrm>
            <a:off x="849273" y="57694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BBR's Advantage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49273" y="6277928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keeps latency at the propagation floor (~42 ms vs. 40 ms base). It never overfills the queue, resulting in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zero retransmits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 steady state.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564874" y="57694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Loss-Based Penalty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7564874" y="627792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CUBIC and RENO inflate RTT by ~3× while achieving nearly identical throughput. RENO's 888 retransmits reflect aggressive queue overfilling and loss recovery cycles.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528638"/>
            <a:ext cx="1271826" cy="357426"/>
          </a:xfrm>
          <a:prstGeom prst="roundRect">
            <a:avLst>
              <a:gd name="adj" fmla="val 18075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884277" y="586264"/>
            <a:ext cx="1041321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EXPERIMENT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9025" y="960477"/>
            <a:ext cx="12066389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Fairness: Competing Flows on the Same Bottleneck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9025" y="1840587"/>
            <a:ext cx="1309235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Two iperf3 flows competing on a 100 Mbps / 40 ms / 1000-pkt bottleneck. We measured steady-state share split and </a:t>
            </a:r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Jain's fairness index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(1.0 = perfect fairness).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9025" y="2655570"/>
            <a:ext cx="13092351" cy="2180749"/>
          </a:xfrm>
          <a:prstGeom prst="roundRect">
            <a:avLst>
              <a:gd name="adj" fmla="val 370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6645" y="2663190"/>
            <a:ext cx="13077111" cy="5413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69050" y="2782491"/>
            <a:ext cx="353496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Pairing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5969" y="2782491"/>
            <a:ext cx="3269575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Share 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57498" y="2782491"/>
            <a:ext cx="248495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Jain's Index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4405" y="2782491"/>
            <a:ext cx="222718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6645" y="3204567"/>
            <a:ext cx="13077111" cy="5413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69050" y="3323868"/>
            <a:ext cx="353496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vs. CUBIC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5969" y="3323868"/>
            <a:ext cx="3269575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0.58 / 0.42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57498" y="3323868"/>
            <a:ext cx="248495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0.973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4405" y="3323868"/>
            <a:ext cx="222718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Mild BBR advantage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6645" y="3745944"/>
            <a:ext cx="13077111" cy="5413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9050" y="3865245"/>
            <a:ext cx="353496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vs. BBR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5969" y="3865245"/>
            <a:ext cx="3269575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0.53 / 0.47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57498" y="3865245"/>
            <a:ext cx="248495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0.995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4405" y="3865245"/>
            <a:ext cx="222718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Near-perfect fairness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6645" y="4287322"/>
            <a:ext cx="13077111" cy="5413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9050" y="4406622"/>
            <a:ext cx="353496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CUBIC vs. CUBIC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5969" y="4406622"/>
            <a:ext cx="3269575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0.64 / 0.36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57498" y="4406622"/>
            <a:ext cx="248495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0.932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4405" y="4406622"/>
            <a:ext cx="222718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Self-unfairness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9025" y="5045750"/>
            <a:ext cx="4239935" cy="2656403"/>
          </a:xfrm>
          <a:prstGeom prst="roundRect">
            <a:avLst>
              <a:gd name="adj" fmla="val 4131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165" y="5045750"/>
            <a:ext cx="91440" cy="2656403"/>
          </a:xfrm>
          <a:prstGeom prst="roundRect">
            <a:avLst>
              <a:gd name="adj" fmla="val 88314"/>
            </a:avLst>
          </a:prstGeom>
          <a:solidFill>
            <a:srgbClr val="F2F2F3"/>
          </a:solidFill>
          <a:ln/>
        </p:spPr>
      </p:sp>
      <p:sp>
        <p:nvSpPr>
          <p:cNvPr id="29" name="Text 27"/>
          <p:cNvSpPr/>
          <p:nvPr/>
        </p:nvSpPr>
        <p:spPr>
          <a:xfrm>
            <a:off x="1052632" y="5260777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BBR vs. BBR Baseline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1052632" y="5672852"/>
            <a:ext cx="3741301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Intra-protocol fairness converges almost perfectly (Jain = 0.995), confirming the testbed is well-calibrated.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195173" y="5045750"/>
            <a:ext cx="4239935" cy="2656403"/>
          </a:xfrm>
          <a:prstGeom prst="roundRect">
            <a:avLst>
              <a:gd name="adj" fmla="val 4131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72313" y="5045750"/>
            <a:ext cx="91440" cy="2656403"/>
          </a:xfrm>
          <a:prstGeom prst="roundRect">
            <a:avLst>
              <a:gd name="adj" fmla="val 88314"/>
            </a:avLst>
          </a:prstGeom>
          <a:solidFill>
            <a:srgbClr val="F2F2F3"/>
          </a:solidFill>
          <a:ln/>
        </p:spPr>
      </p:sp>
      <p:sp>
        <p:nvSpPr>
          <p:cNvPr id="33" name="Text 31"/>
          <p:cNvSpPr/>
          <p:nvPr/>
        </p:nvSpPr>
        <p:spPr>
          <a:xfrm>
            <a:off x="5478780" y="5260777"/>
            <a:ext cx="3741301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BBR vs. CUBIC: Milder Than the Paper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5478780" y="5973247"/>
            <a:ext cx="3741301" cy="151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takes a modest 58/42 share — far less dramatic than the 2016 paper. Likely causes: a 3×-BDP buffer (vs. the paper's deeper multiples), single trial per pair, and lower jitter than Google's WAN traces.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621322" y="5045750"/>
            <a:ext cx="4239935" cy="2656403"/>
          </a:xfrm>
          <a:prstGeom prst="roundRect">
            <a:avLst>
              <a:gd name="adj" fmla="val 4131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98462" y="5045750"/>
            <a:ext cx="91440" cy="2656403"/>
          </a:xfrm>
          <a:prstGeom prst="roundRect">
            <a:avLst>
              <a:gd name="adj" fmla="val 88314"/>
            </a:avLst>
          </a:prstGeom>
          <a:solidFill>
            <a:srgbClr val="F2F2F3"/>
          </a:solidFill>
          <a:ln/>
        </p:spPr>
      </p:sp>
      <p:sp>
        <p:nvSpPr>
          <p:cNvPr id="37" name="Text 35"/>
          <p:cNvSpPr/>
          <p:nvPr/>
        </p:nvSpPr>
        <p:spPr>
          <a:xfrm>
            <a:off x="9904928" y="5260777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BBRv2 Context</a:t>
            </a:r>
            <a:endParaRPr lang="en-US" sz="1850" dirty="0"/>
          </a:p>
        </p:txBody>
      </p:sp>
      <p:sp>
        <p:nvSpPr>
          <p:cNvPr id="38" name="Text 36"/>
          <p:cNvSpPr/>
          <p:nvPr/>
        </p:nvSpPr>
        <p:spPr>
          <a:xfrm>
            <a:off x="9904928" y="5672852"/>
            <a:ext cx="3741301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BBRv2 was created specifically to address BBR-vs-CUBIC fairness in deeper buffers, building on these findings.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8784"/>
            <a:ext cx="95684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Our Results Compare to the Paper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616518"/>
            <a:ext cx="6565106" cy="3914180"/>
          </a:xfrm>
          <a:prstGeom prst="roundRect">
            <a:avLst>
              <a:gd name="adj" fmla="val 3651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2814876"/>
            <a:ext cx="28777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✅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Reproduced Cleanly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323392"/>
            <a:ext cx="6168390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matches link capacity regardless of buffer size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CUBIC and RENO under-utilize on shallow buffers + high RTT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keeps RTT at the propagation floor; loss-based CCs inflate RTT 2.5–3×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has zero retransmits in steady state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814876"/>
            <a:ext cx="30431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⚠️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Milder Than the Paper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323392"/>
            <a:ext cx="6279356" cy="1339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vs. CUBIC unfairness was modest (~58/42), not the dramatic split shown for deep buffers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Likely causes: 3×-BDP buffer, single trial per pair, lower jitter than Google's WAN traces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861322"/>
            <a:ext cx="25344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🔬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Scope Limitations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5369838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lossy-link experiments (random loss via netem)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Multi-flow scaling limited to 2 flows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BBRv2 not evaluated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423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8114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204" y="251835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2549366"/>
            <a:ext cx="38508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Loss-Based CC Is a Latency Tax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2978587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removes most of it by operating at the Kleinrock optimal point — full link, empty queue — without waiting for loss signals.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248114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13558" y="251835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83987" y="2549366"/>
            <a:ext cx="38984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BBR's Win Is Context-Dependent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83987" y="2978587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Largest on high-RTT shallow-buffer paths and deep-buffer paths where buffer bloat dominates. On short-RTT paths with small buffers, all CCs perform similarly.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32804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204" y="436524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396264"/>
            <a:ext cx="28154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Fairness Is the Tradeoff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4825484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BBR is mildly unfair to loss-based flows in deep buffers (~58/42 split). This motivated BBRv2, which tightens fairness while preserving latency benefits.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39144" y="432804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3558" y="436524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83987" y="4396264"/>
            <a:ext cx="31564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Laptop Testbed Suffices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83987" y="4825484"/>
            <a:ext cx="575262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controlled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netns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+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setup reproduces the paper's qualitative claims — accessible, reproducible, and low-overhead.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91446" y="6224588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Throughput isn't the whole story. Latency under load is what BBR fixes.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6001345"/>
            <a:ext cx="22860" cy="764024"/>
          </a:xfrm>
          <a:prstGeom prst="rect">
            <a:avLst/>
          </a:prstGeom>
          <a:solidFill>
            <a:srgbClr val="F2F2F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2026-04-30T15:34:46Z</dcterms:created>
  <dcterms:modified xsi:type="dcterms:W3CDTF">2026-04-30T15:34:46Z</dcterms:modified>
</cp:coreProperties>
</file>